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Arial Bold Italics" panose="020B0604020202020204" charset="0"/>
      <p:regular r:id="rId8"/>
    </p:embeddedFont>
    <p:embeddedFont>
      <p:font typeface="Arial Italics" panose="020B0604020202020204" charset="0"/>
      <p:regular r:id="rId9"/>
    </p:embeddedFon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Garamond" panose="02020404030301010803" pitchFamily="18" charset="0"/>
      <p:regular r:id="rId14"/>
      <p:bold r:id="rId15"/>
      <p:italic r:id="rId16"/>
    </p:embeddedFont>
    <p:embeddedFont>
      <p:font typeface="PT Sans Bold Italics" panose="020B0604020202020204" charset="0"/>
      <p:regular r:id="rId17"/>
    </p:embeddedFont>
    <p:embeddedFont>
      <p:font typeface="PT Serif" panose="020A0603040505020204" pitchFamily="18" charset="0"/>
      <p:regular r:id="rId18"/>
      <p:italic r:id="rId19"/>
    </p:embeddedFont>
    <p:embeddedFont>
      <p:font typeface="PT Serif Bold" panose="020A0703040505020204" charset="0"/>
      <p:regular r:id="rId20"/>
    </p:embeddedFont>
    <p:embeddedFont>
      <p:font typeface="PT Serif Bold Italics" panose="020B0604020202020204" charset="0"/>
      <p:regular r:id="rId21"/>
    </p:embeddedFont>
    <p:embeddedFont>
      <p:font typeface="PT Serif Italics" panose="020B0604020202020204" charset="0"/>
      <p:regular r:id="rId22"/>
    </p:embeddedFont>
    <p:embeddedFont>
      <p:font typeface="Work Sans Bold Italics" panose="020B0604020202020204" charset="0"/>
      <p:regular r:id="rId23"/>
    </p:embeddedFont>
    <p:embeddedFont>
      <p:font typeface="Work Sans Italics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90" d="100"/>
          <a:sy n="90" d="100"/>
        </p:scale>
        <p:origin x="37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4.fntdata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24" Type="http://schemas.openxmlformats.org/officeDocument/2006/relationships/font" Target="fonts/font17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font" Target="fonts/font16.fntdata"/><Relationship Id="rId28" Type="http://schemas.openxmlformats.org/officeDocument/2006/relationships/tableStyles" Target="tableStyles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font" Target="fonts/font15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jpe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ndia.gov.in" TargetMode="External"/><Relationship Id="rId3" Type="http://schemas.openxmlformats.org/officeDocument/2006/relationships/image" Target="../media/image5.png"/><Relationship Id="rId7" Type="http://schemas.openxmlformats.org/officeDocument/2006/relationships/hyperlink" Target="https://consumeraffairs.gov.in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lm.doca.gov.in" TargetMode="External"/><Relationship Id="rId5" Type="http://schemas.openxmlformats.org/officeDocument/2006/relationships/image" Target="../media/image16.png"/><Relationship Id="rId4" Type="http://schemas.openxmlformats.org/officeDocument/2006/relationships/image" Target="../media/image6.png"/><Relationship Id="rId9" Type="http://schemas.openxmlformats.org/officeDocument/2006/relationships/hyperlink" Target="https://consumerhelpline.gov.in/public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70095" y="-77787"/>
            <a:ext cx="9270997" cy="6984997"/>
          </a:xfrm>
          <a:custGeom>
            <a:avLst/>
            <a:gdLst/>
            <a:ahLst/>
            <a:cxnLst/>
            <a:rect l="l" t="t" r="r" b="b"/>
            <a:pathLst>
              <a:path w="9270997" h="6984997">
                <a:moveTo>
                  <a:pt x="0" y="0"/>
                </a:moveTo>
                <a:lnTo>
                  <a:pt x="9270997" y="0"/>
                </a:lnTo>
                <a:lnTo>
                  <a:pt x="9270997" y="6984997"/>
                </a:lnTo>
                <a:lnTo>
                  <a:pt x="0" y="6984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854952" y="1716024"/>
            <a:ext cx="3203448" cy="3425952"/>
            <a:chOff x="0" y="0"/>
            <a:chExt cx="4271264" cy="456793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1264" cy="4567936"/>
            </a:xfrm>
            <a:custGeom>
              <a:avLst/>
              <a:gdLst/>
              <a:ahLst/>
              <a:cxnLst/>
              <a:rect l="l" t="t" r="r" b="b"/>
              <a:pathLst>
                <a:path w="4271264" h="4567936">
                  <a:moveTo>
                    <a:pt x="0" y="0"/>
                  </a:moveTo>
                  <a:lnTo>
                    <a:pt x="4271264" y="0"/>
                  </a:lnTo>
                  <a:lnTo>
                    <a:pt x="4271264" y="4567936"/>
                  </a:lnTo>
                  <a:lnTo>
                    <a:pt x="0" y="4567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9841992" y="6096"/>
            <a:ext cx="2209800" cy="1121664"/>
            <a:chOff x="0" y="0"/>
            <a:chExt cx="2946400" cy="149555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946400" cy="1495552"/>
            </a:xfrm>
            <a:custGeom>
              <a:avLst/>
              <a:gdLst/>
              <a:ahLst/>
              <a:cxnLst/>
              <a:rect l="l" t="t" r="r" b="b"/>
              <a:pathLst>
                <a:path w="2946400" h="1495552">
                  <a:moveTo>
                    <a:pt x="0" y="0"/>
                  </a:moveTo>
                  <a:lnTo>
                    <a:pt x="2946400" y="0"/>
                  </a:lnTo>
                  <a:lnTo>
                    <a:pt x="2946400" y="1495552"/>
                  </a:lnTo>
                  <a:lnTo>
                    <a:pt x="0" y="1495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5125" r="-15125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725956" y="134274"/>
            <a:ext cx="7739896" cy="688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14"/>
              </a:lnSpc>
            </a:pPr>
            <a:r>
              <a:rPr lang="en-US" sz="4010">
                <a:solidFill>
                  <a:srgbClr val="1F497D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3947" y="4992273"/>
            <a:ext cx="10590427" cy="1333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0"/>
              </a:lnSpc>
              <a:spcBef>
                <a:spcPct val="0"/>
              </a:spcBef>
            </a:pPr>
            <a:r>
              <a:rPr lang="en-US" sz="1900" b="1" u="sng">
                <a:solidFill>
                  <a:srgbClr val="000000"/>
                </a:solidFill>
                <a:latin typeface="PT Serif Bold"/>
                <a:ea typeface="PT Serif Bold"/>
                <a:cs typeface="PT Serif Bold"/>
                <a:sym typeface="PT Serif Bold"/>
              </a:rPr>
              <a:t>Problem</a:t>
            </a:r>
          </a:p>
          <a:p>
            <a:pPr marL="307716" lvl="1" indent="-153858" algn="l">
              <a:lnSpc>
                <a:spcPts val="1710"/>
              </a:lnSpc>
              <a:buFont typeface="Arial"/>
              <a:buChar char="•"/>
            </a:pPr>
            <a:r>
              <a:rPr lang="en-US" sz="1425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Mandatory label declarations are required under the Legal Metrology (Packaged Commodities) Rules, 2011.</a:t>
            </a:r>
          </a:p>
          <a:p>
            <a:pPr marL="307716" lvl="1" indent="-153858" algn="l">
              <a:lnSpc>
                <a:spcPts val="1710"/>
              </a:lnSpc>
              <a:buFont typeface="Arial"/>
              <a:buChar char="•"/>
            </a:pPr>
            <a:r>
              <a:rPr lang="en-US" sz="1425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Missing/incomplete declarations are common due to design &amp; printing oversights.</a:t>
            </a:r>
          </a:p>
          <a:p>
            <a:pPr marL="307716" lvl="1" indent="-153858" algn="l">
              <a:lnSpc>
                <a:spcPts val="1710"/>
              </a:lnSpc>
              <a:buFont typeface="Arial"/>
              <a:buChar char="•"/>
            </a:pPr>
            <a:r>
              <a:rPr lang="en-US" sz="1425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Manual checking is slow, inconsistent, and rule-dependent.</a:t>
            </a:r>
          </a:p>
          <a:p>
            <a:pPr marL="307716" lvl="1" indent="-153858" algn="l">
              <a:lnSpc>
                <a:spcPts val="1710"/>
              </a:lnSpc>
              <a:buFont typeface="Arial"/>
              <a:buChar char="•"/>
            </a:pPr>
            <a:r>
              <a:rPr lang="en-US" sz="1425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Non-compliance can lead to penalties and costly corrections after printing.</a:t>
            </a:r>
          </a:p>
          <a:p>
            <a:pPr marL="307716" lvl="1" indent="-153858" algn="l">
              <a:lnSpc>
                <a:spcPts val="1710"/>
              </a:lnSpc>
              <a:buFont typeface="Arial"/>
              <a:buChar char="•"/>
            </a:pPr>
            <a:r>
              <a:rPr lang="en-US" sz="1425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No simple self-serve pre-print verification tool exists.</a:t>
            </a:r>
          </a:p>
        </p:txBody>
      </p:sp>
      <p:sp>
        <p:nvSpPr>
          <p:cNvPr id="9" name="Freeform 9"/>
          <p:cNvSpPr/>
          <p:nvPr/>
        </p:nvSpPr>
        <p:spPr>
          <a:xfrm>
            <a:off x="-16723" y="-63503"/>
            <a:ext cx="1405046" cy="936698"/>
          </a:xfrm>
          <a:custGeom>
            <a:avLst/>
            <a:gdLst/>
            <a:ahLst/>
            <a:cxnLst/>
            <a:rect l="l" t="t" r="r" b="b"/>
            <a:pathLst>
              <a:path w="1405046" h="936698">
                <a:moveTo>
                  <a:pt x="0" y="0"/>
                </a:moveTo>
                <a:lnTo>
                  <a:pt x="1405046" y="0"/>
                </a:lnTo>
                <a:lnTo>
                  <a:pt x="1405046" y="936697"/>
                </a:lnTo>
                <a:lnTo>
                  <a:pt x="0" y="9366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9841992" y="6096"/>
            <a:ext cx="2209800" cy="1121664"/>
            <a:chOff x="0" y="0"/>
            <a:chExt cx="2946400" cy="149555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946400" cy="1495552"/>
            </a:xfrm>
            <a:custGeom>
              <a:avLst/>
              <a:gdLst/>
              <a:ahLst/>
              <a:cxnLst/>
              <a:rect l="l" t="t" r="r" b="b"/>
              <a:pathLst>
                <a:path w="2946400" h="1495552">
                  <a:moveTo>
                    <a:pt x="0" y="0"/>
                  </a:moveTo>
                  <a:lnTo>
                    <a:pt x="2946400" y="0"/>
                  </a:lnTo>
                  <a:lnTo>
                    <a:pt x="2946400" y="1495552"/>
                  </a:lnTo>
                  <a:lnTo>
                    <a:pt x="0" y="1495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00" r="-200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-304800" y="1411101"/>
            <a:ext cx="4334680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b="1" dirty="0">
                <a:solidFill>
                  <a:srgbClr val="000000"/>
                </a:solidFill>
                <a:latin typeface="PT Serif Bold"/>
                <a:ea typeface="PT Serif Bold"/>
                <a:cs typeface="PT Serif Bold"/>
                <a:sym typeface="PT Serif Bold"/>
              </a:rPr>
              <a:t>Problem Statement ID</a:t>
            </a:r>
            <a:r>
              <a:rPr lang="en-US" sz="1599" dirty="0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 - SIH26034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66370" y="1811337"/>
            <a:ext cx="6854952" cy="816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000000"/>
                </a:solidFill>
                <a:latin typeface="PT Serif Bold"/>
                <a:ea typeface="PT Serif Bold"/>
                <a:cs typeface="PT Serif Bold"/>
                <a:sym typeface="PT Serif Bold"/>
              </a:rPr>
              <a:t>Problem Statement Title</a:t>
            </a:r>
            <a:r>
              <a:rPr lang="en-US" sz="1599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 - Software System to check compliance of Packaged Commodities under Legal Metrology(Packaged Commodities) Rules, 2011 by scanning products, images and labels.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66370" y="2799397"/>
            <a:ext cx="2123480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b="1" dirty="0">
                <a:solidFill>
                  <a:srgbClr val="000000"/>
                </a:solidFill>
                <a:latin typeface="PT Serif Bold"/>
                <a:ea typeface="PT Serif Bold"/>
                <a:cs typeface="PT Serif Bold"/>
                <a:sym typeface="PT Serif Bold"/>
              </a:rPr>
              <a:t>Theme</a:t>
            </a:r>
            <a:r>
              <a:rPr lang="en-US" sz="1599" dirty="0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 -Miscellaneous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08817" y="3282632"/>
            <a:ext cx="2129314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b="1" dirty="0">
                <a:solidFill>
                  <a:srgbClr val="000000"/>
                </a:solidFill>
                <a:latin typeface="PT Serif Bold"/>
                <a:ea typeface="PT Serif Bold"/>
                <a:cs typeface="PT Serif Bold"/>
                <a:sym typeface="PT Serif Bold"/>
              </a:rPr>
              <a:t>PS Category</a:t>
            </a:r>
            <a:r>
              <a:rPr lang="en-US" sz="1599" dirty="0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 - Software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88879" y="3765867"/>
            <a:ext cx="1010483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000000"/>
                </a:solidFill>
                <a:latin typeface="PT Serif Bold"/>
                <a:ea typeface="PT Serif Bold"/>
                <a:cs typeface="PT Serif Bold"/>
                <a:sym typeface="PT Serif Bold"/>
              </a:rPr>
              <a:t>Team ID </a:t>
            </a:r>
            <a:r>
              <a:rPr lang="en-US" sz="1599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-</a:t>
            </a:r>
            <a:r>
              <a:rPr lang="en-US" sz="1599" b="1">
                <a:solidFill>
                  <a:srgbClr val="000000"/>
                </a:solidFill>
                <a:latin typeface="PT Serif Bold"/>
                <a:ea typeface="PT Serif Bold"/>
                <a:cs typeface="PT Serif Bold"/>
                <a:sym typeface="PT Serif Bold"/>
              </a:rPr>
              <a:t>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-385628" y="4188665"/>
            <a:ext cx="3427476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000000"/>
                </a:solidFill>
                <a:latin typeface="PT Serif Bold"/>
                <a:ea typeface="PT Serif Bold"/>
                <a:cs typeface="PT Serif Bold"/>
                <a:sym typeface="PT Serif Bold"/>
              </a:rPr>
              <a:t>Team Name</a:t>
            </a:r>
            <a:r>
              <a:rPr lang="en-US" sz="1599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 - 404pass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841992" y="0"/>
            <a:ext cx="2209800" cy="1121664"/>
            <a:chOff x="0" y="0"/>
            <a:chExt cx="2946400" cy="14955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46400" cy="1495552"/>
            </a:xfrm>
            <a:custGeom>
              <a:avLst/>
              <a:gdLst/>
              <a:ahLst/>
              <a:cxnLst/>
              <a:rect l="l" t="t" r="r" b="b"/>
              <a:pathLst>
                <a:path w="2946400" h="1495552">
                  <a:moveTo>
                    <a:pt x="0" y="0"/>
                  </a:moveTo>
                  <a:lnTo>
                    <a:pt x="2946400" y="0"/>
                  </a:lnTo>
                  <a:lnTo>
                    <a:pt x="2946400" y="1495552"/>
                  </a:lnTo>
                  <a:lnTo>
                    <a:pt x="0" y="1495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5125" r="-15125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0" y="0"/>
            <a:ext cx="1405046" cy="936698"/>
          </a:xfrm>
          <a:custGeom>
            <a:avLst/>
            <a:gdLst/>
            <a:ahLst/>
            <a:cxnLst/>
            <a:rect l="l" t="t" r="r" b="b"/>
            <a:pathLst>
              <a:path w="1405046" h="936698">
                <a:moveTo>
                  <a:pt x="0" y="0"/>
                </a:moveTo>
                <a:lnTo>
                  <a:pt x="1405046" y="0"/>
                </a:lnTo>
                <a:lnTo>
                  <a:pt x="1405046" y="936698"/>
                </a:lnTo>
                <a:lnTo>
                  <a:pt x="0" y="9366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9841992" y="0"/>
            <a:ext cx="2209800" cy="1121664"/>
            <a:chOff x="0" y="0"/>
            <a:chExt cx="2946400" cy="149555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946400" cy="1495552"/>
            </a:xfrm>
            <a:custGeom>
              <a:avLst/>
              <a:gdLst/>
              <a:ahLst/>
              <a:cxnLst/>
              <a:rect l="l" t="t" r="r" b="b"/>
              <a:pathLst>
                <a:path w="2946400" h="1495552">
                  <a:moveTo>
                    <a:pt x="0" y="0"/>
                  </a:moveTo>
                  <a:lnTo>
                    <a:pt x="2946400" y="0"/>
                  </a:lnTo>
                  <a:lnTo>
                    <a:pt x="2946400" y="1495552"/>
                  </a:lnTo>
                  <a:lnTo>
                    <a:pt x="0" y="1495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00" r="-200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7700770" y="1488706"/>
            <a:ext cx="4282224" cy="2304372"/>
          </a:xfrm>
          <a:custGeom>
            <a:avLst/>
            <a:gdLst/>
            <a:ahLst/>
            <a:cxnLst/>
            <a:rect l="l" t="t" r="r" b="b"/>
            <a:pathLst>
              <a:path w="4282224" h="2304372">
                <a:moveTo>
                  <a:pt x="0" y="0"/>
                </a:moveTo>
                <a:lnTo>
                  <a:pt x="4282224" y="0"/>
                </a:lnTo>
                <a:lnTo>
                  <a:pt x="4282224" y="2304371"/>
                </a:lnTo>
                <a:lnTo>
                  <a:pt x="0" y="23043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9560" y="5031764"/>
            <a:ext cx="3018417" cy="1622399"/>
          </a:xfrm>
          <a:custGeom>
            <a:avLst/>
            <a:gdLst/>
            <a:ahLst/>
            <a:cxnLst/>
            <a:rect l="l" t="t" r="r" b="b"/>
            <a:pathLst>
              <a:path w="3018417" h="1622399">
                <a:moveTo>
                  <a:pt x="0" y="0"/>
                </a:moveTo>
                <a:lnTo>
                  <a:pt x="3018417" y="0"/>
                </a:lnTo>
                <a:lnTo>
                  <a:pt x="3018417" y="1622400"/>
                </a:lnTo>
                <a:lnTo>
                  <a:pt x="0" y="16224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273487" y="3924867"/>
            <a:ext cx="1137009" cy="966458"/>
          </a:xfrm>
          <a:custGeom>
            <a:avLst/>
            <a:gdLst/>
            <a:ahLst/>
            <a:cxnLst/>
            <a:rect l="l" t="t" r="r" b="b"/>
            <a:pathLst>
              <a:path w="1137009" h="966458">
                <a:moveTo>
                  <a:pt x="0" y="0"/>
                </a:moveTo>
                <a:lnTo>
                  <a:pt x="1137010" y="0"/>
                </a:lnTo>
                <a:lnTo>
                  <a:pt x="1137010" y="966458"/>
                </a:lnTo>
                <a:lnTo>
                  <a:pt x="0" y="9664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5400000">
            <a:off x="7678316" y="5454464"/>
            <a:ext cx="914118" cy="777000"/>
          </a:xfrm>
          <a:custGeom>
            <a:avLst/>
            <a:gdLst/>
            <a:ahLst/>
            <a:cxnLst/>
            <a:rect l="l" t="t" r="r" b="b"/>
            <a:pathLst>
              <a:path w="914118" h="777000">
                <a:moveTo>
                  <a:pt x="0" y="0"/>
                </a:moveTo>
                <a:lnTo>
                  <a:pt x="914118" y="0"/>
                </a:lnTo>
                <a:lnTo>
                  <a:pt x="914118" y="777000"/>
                </a:lnTo>
                <a:lnTo>
                  <a:pt x="0" y="7770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5400000">
            <a:off x="3147356" y="5454464"/>
            <a:ext cx="914118" cy="777000"/>
          </a:xfrm>
          <a:custGeom>
            <a:avLst/>
            <a:gdLst/>
            <a:ahLst/>
            <a:cxnLst/>
            <a:rect l="l" t="t" r="r" b="b"/>
            <a:pathLst>
              <a:path w="914118" h="777000">
                <a:moveTo>
                  <a:pt x="0" y="0"/>
                </a:moveTo>
                <a:lnTo>
                  <a:pt x="914118" y="0"/>
                </a:lnTo>
                <a:lnTo>
                  <a:pt x="914118" y="777000"/>
                </a:lnTo>
                <a:lnTo>
                  <a:pt x="0" y="7770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8569980" y="5023115"/>
            <a:ext cx="3493276" cy="1613457"/>
          </a:xfrm>
          <a:custGeom>
            <a:avLst/>
            <a:gdLst/>
            <a:ahLst/>
            <a:cxnLst/>
            <a:rect l="l" t="t" r="r" b="b"/>
            <a:pathLst>
              <a:path w="3493276" h="1613457">
                <a:moveTo>
                  <a:pt x="0" y="0"/>
                </a:moveTo>
                <a:lnTo>
                  <a:pt x="3493277" y="0"/>
                </a:lnTo>
                <a:lnTo>
                  <a:pt x="3493277" y="1613457"/>
                </a:lnTo>
                <a:lnTo>
                  <a:pt x="0" y="161345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4080853" y="5031764"/>
            <a:ext cx="3595345" cy="1622399"/>
          </a:xfrm>
          <a:custGeom>
            <a:avLst/>
            <a:gdLst/>
            <a:ahLst/>
            <a:cxnLst/>
            <a:rect l="l" t="t" r="r" b="b"/>
            <a:pathLst>
              <a:path w="3595345" h="1622399">
                <a:moveTo>
                  <a:pt x="0" y="0"/>
                </a:moveTo>
                <a:lnTo>
                  <a:pt x="3595345" y="0"/>
                </a:lnTo>
                <a:lnTo>
                  <a:pt x="3595345" y="1622400"/>
                </a:lnTo>
                <a:lnTo>
                  <a:pt x="0" y="1622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56103" y="953623"/>
            <a:ext cx="7170678" cy="3762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2"/>
              </a:lnSpc>
              <a:spcBef>
                <a:spcPct val="0"/>
              </a:spcBef>
            </a:pPr>
            <a:r>
              <a:rPr lang="en-US" sz="1365" b="1" i="1" u="sng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THEORY / WORKING PRINCIPLE</a:t>
            </a:r>
          </a:p>
          <a:p>
            <a:pPr algn="l">
              <a:lnSpc>
                <a:spcPts val="1290"/>
              </a:lnSpc>
              <a:spcBef>
                <a:spcPct val="0"/>
              </a:spcBef>
            </a:pPr>
            <a:r>
              <a:rPr lang="en-US" sz="921" i="1">
                <a:solidFill>
                  <a:srgbClr val="000000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LabelSetu works on the principle of Automated Label Information Extraction and Rule-Based Compliance Verification.</a:t>
            </a:r>
          </a:p>
          <a:p>
            <a:pPr algn="l">
              <a:lnSpc>
                <a:spcPts val="1290"/>
              </a:lnSpc>
              <a:spcBef>
                <a:spcPct val="0"/>
              </a:spcBef>
            </a:pPr>
            <a:r>
              <a:rPr lang="en-US" sz="921" i="1">
                <a:solidFill>
                  <a:srgbClr val="000000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Image Acquisition</a:t>
            </a:r>
          </a:p>
          <a:p>
            <a:pPr algn="l">
              <a:lnSpc>
                <a:spcPts val="1290"/>
              </a:lnSpc>
              <a:spcBef>
                <a:spcPct val="0"/>
              </a:spcBef>
            </a:pPr>
            <a:endParaRPr lang="en-US" sz="921" i="1">
              <a:solidFill>
                <a:srgbClr val="000000"/>
              </a:solidFill>
              <a:latin typeface="Work Sans Italics"/>
              <a:ea typeface="Work Sans Italics"/>
              <a:cs typeface="Work Sans Italics"/>
              <a:sym typeface="Work Sans Italics"/>
            </a:endParaRPr>
          </a:p>
          <a:p>
            <a:pPr marL="199002" lvl="1" indent="-99501" algn="l">
              <a:lnSpc>
                <a:spcPts val="1290"/>
              </a:lnSpc>
              <a:buFont typeface="Arial"/>
              <a:buChar char="•"/>
            </a:pPr>
            <a:r>
              <a:rPr lang="en-US" sz="921" i="1">
                <a:solidFill>
                  <a:srgbClr val="000000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A product label is captured/uploaded as an image.</a:t>
            </a:r>
          </a:p>
          <a:p>
            <a:pPr marL="199002" lvl="1" indent="-99501" algn="l">
              <a:lnSpc>
                <a:spcPts val="1290"/>
              </a:lnSpc>
              <a:buFont typeface="Arial"/>
              <a:buChar char="•"/>
            </a:pPr>
            <a:r>
              <a:rPr lang="en-US" sz="921" i="1">
                <a:solidFill>
                  <a:srgbClr val="000000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Text &amp; Field Extraction</a:t>
            </a:r>
          </a:p>
          <a:p>
            <a:pPr marL="199002" lvl="1" indent="-99501" algn="l">
              <a:lnSpc>
                <a:spcPts val="1290"/>
              </a:lnSpc>
              <a:buFont typeface="Arial"/>
              <a:buChar char="•"/>
            </a:pPr>
            <a:r>
              <a:rPr lang="en-US" sz="921" i="1">
                <a:solidFill>
                  <a:srgbClr val="000000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OCR extracts the textual information from the label and identifies important fields such as MRP, net quantity, manufacturer details, consumer care information, etc.</a:t>
            </a:r>
          </a:p>
          <a:p>
            <a:pPr marL="199002" lvl="1" indent="-99501" algn="l">
              <a:lnSpc>
                <a:spcPts val="1290"/>
              </a:lnSpc>
              <a:buFont typeface="Arial"/>
              <a:buChar char="•"/>
            </a:pPr>
            <a:r>
              <a:rPr lang="en-US" sz="921" i="1">
                <a:solidFill>
                  <a:srgbClr val="000000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Category-Based Rule Mapping</a:t>
            </a:r>
          </a:p>
          <a:p>
            <a:pPr marL="199002" lvl="1" indent="-99501" algn="l">
              <a:lnSpc>
                <a:spcPts val="1290"/>
              </a:lnSpc>
              <a:buFont typeface="Arial"/>
              <a:buChar char="•"/>
            </a:pPr>
            <a:r>
              <a:rPr lang="en-US" sz="921" i="1">
                <a:solidFill>
                  <a:srgbClr val="000000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The selected product category determines the set of mandatory declarations required under the Legal Metrology (Packaged Commodities) Rules, 2011.</a:t>
            </a:r>
          </a:p>
          <a:p>
            <a:pPr marL="199002" lvl="1" indent="-99501" algn="l">
              <a:lnSpc>
                <a:spcPts val="1290"/>
              </a:lnSpc>
              <a:buFont typeface="Arial"/>
              <a:buChar char="•"/>
            </a:pPr>
            <a:r>
              <a:rPr lang="en-US" sz="921" i="1">
                <a:solidFill>
                  <a:srgbClr val="000000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Compliance Comparison</a:t>
            </a:r>
          </a:p>
          <a:p>
            <a:pPr marL="199002" lvl="1" indent="-99501" algn="l">
              <a:lnSpc>
                <a:spcPts val="1290"/>
              </a:lnSpc>
              <a:buFont typeface="Arial"/>
              <a:buChar char="•"/>
            </a:pPr>
            <a:r>
              <a:rPr lang="en-US" sz="921" i="1">
                <a:solidFill>
                  <a:srgbClr val="000000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The extracted fields are compared with the required fields using a rule-based compliance engine.</a:t>
            </a:r>
          </a:p>
          <a:p>
            <a:pPr marL="199002" lvl="1" indent="-99501" algn="l">
              <a:lnSpc>
                <a:spcPts val="1290"/>
              </a:lnSpc>
              <a:buFont typeface="Arial"/>
              <a:buChar char="•"/>
            </a:pPr>
            <a:r>
              <a:rPr lang="en-US" sz="921" i="1">
                <a:solidFill>
                  <a:srgbClr val="000000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Missing Declaration Detection</a:t>
            </a:r>
          </a:p>
          <a:p>
            <a:pPr marL="199002" lvl="1" indent="-99501" algn="l">
              <a:lnSpc>
                <a:spcPts val="1290"/>
              </a:lnSpc>
              <a:buFont typeface="Arial"/>
              <a:buChar char="•"/>
            </a:pPr>
            <a:r>
              <a:rPr lang="en-US" sz="921" i="1">
                <a:solidFill>
                  <a:srgbClr val="000000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The system identifies which mandatory declarations are present and which are missing.</a:t>
            </a:r>
          </a:p>
          <a:p>
            <a:pPr marL="199002" lvl="1" indent="-99501" algn="l">
              <a:lnSpc>
                <a:spcPts val="1290"/>
              </a:lnSpc>
              <a:buFont typeface="Arial"/>
              <a:buChar char="•"/>
            </a:pPr>
            <a:r>
              <a:rPr lang="en-US" sz="921" i="1">
                <a:solidFill>
                  <a:srgbClr val="000000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Compliance Result &amp; Report</a:t>
            </a:r>
          </a:p>
          <a:p>
            <a:pPr marL="199002" lvl="1" indent="-99501" algn="l">
              <a:lnSpc>
                <a:spcPts val="1290"/>
              </a:lnSpc>
              <a:buFont typeface="Arial"/>
              <a:buChar char="•"/>
            </a:pPr>
            <a:r>
              <a:rPr lang="en-US" sz="921" i="1">
                <a:solidFill>
                  <a:srgbClr val="000000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The result is presented as a Pass/Fail status with a Found vs. Missing breakdown, along with a verification report.</a:t>
            </a:r>
          </a:p>
          <a:p>
            <a:pPr algn="l">
              <a:lnSpc>
                <a:spcPts val="1290"/>
              </a:lnSpc>
            </a:pPr>
            <a:endParaRPr lang="en-US" sz="921" i="1">
              <a:solidFill>
                <a:srgbClr val="000000"/>
              </a:solidFill>
              <a:latin typeface="Work Sans Italics"/>
              <a:ea typeface="Work Sans Italics"/>
              <a:cs typeface="Work Sans Italics"/>
              <a:sym typeface="Work Sans Italics"/>
            </a:endParaRPr>
          </a:p>
          <a:p>
            <a:pPr algn="l">
              <a:lnSpc>
                <a:spcPts val="1580"/>
              </a:lnSpc>
            </a:pPr>
            <a:r>
              <a:rPr lang="en-US" sz="1128" b="1" i="1" u="sng">
                <a:solidFill>
                  <a:srgbClr val="000000"/>
                </a:solidFill>
                <a:latin typeface="Work Sans Bold Italics"/>
                <a:ea typeface="Work Sans Bold Italics"/>
                <a:cs typeface="Work Sans Bold Italics"/>
                <a:sym typeface="Work Sans Bold Italics"/>
              </a:rPr>
              <a:t>Core Principle:</a:t>
            </a:r>
          </a:p>
          <a:p>
            <a:pPr algn="l">
              <a:lnSpc>
                <a:spcPts val="1290"/>
              </a:lnSpc>
              <a:spcBef>
                <a:spcPct val="0"/>
              </a:spcBef>
            </a:pPr>
            <a:r>
              <a:rPr lang="en-US" sz="921" i="1">
                <a:solidFill>
                  <a:srgbClr val="000000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Label Image → Information Extraction → Rule Mapping → Required vs. Detected Comparison → Compliance Result</a:t>
            </a:r>
          </a:p>
          <a:p>
            <a:pPr algn="l">
              <a:lnSpc>
                <a:spcPts val="1290"/>
              </a:lnSpc>
              <a:spcBef>
                <a:spcPct val="0"/>
              </a:spcBef>
            </a:pPr>
            <a:r>
              <a:rPr lang="en-US" sz="921" i="1">
                <a:solidFill>
                  <a:srgbClr val="000000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Key Advantage:</a:t>
            </a:r>
          </a:p>
          <a:p>
            <a:pPr algn="l">
              <a:lnSpc>
                <a:spcPts val="1290"/>
              </a:lnSpc>
              <a:spcBef>
                <a:spcPct val="0"/>
              </a:spcBef>
            </a:pPr>
            <a:r>
              <a:rPr lang="en-US" sz="921" i="1">
                <a:solidFill>
                  <a:srgbClr val="000000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The rule engine is independent of the OCR technology, allowing the system to improve its text-extraction method without changing the compliance logic.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15116" y="-19685"/>
            <a:ext cx="2594189" cy="705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39"/>
              </a:lnSpc>
            </a:pPr>
            <a:r>
              <a:rPr lang="en-US" sz="4099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LabelSetu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07397" y="6418745"/>
            <a:ext cx="86430" cy="217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 i="1">
                <a:solidFill>
                  <a:srgbClr val="FFFF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841992" y="57912"/>
            <a:ext cx="2209800" cy="1121664"/>
            <a:chOff x="0" y="0"/>
            <a:chExt cx="2946400" cy="14955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46400" cy="1495552"/>
            </a:xfrm>
            <a:custGeom>
              <a:avLst/>
              <a:gdLst/>
              <a:ahLst/>
              <a:cxnLst/>
              <a:rect l="l" t="t" r="r" b="b"/>
              <a:pathLst>
                <a:path w="2946400" h="1495552">
                  <a:moveTo>
                    <a:pt x="0" y="0"/>
                  </a:moveTo>
                  <a:lnTo>
                    <a:pt x="2946400" y="0"/>
                  </a:lnTo>
                  <a:lnTo>
                    <a:pt x="2946400" y="1495552"/>
                  </a:lnTo>
                  <a:lnTo>
                    <a:pt x="0" y="1495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5125" r="-15125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2991814" y="4222508"/>
            <a:ext cx="8208187" cy="2521164"/>
          </a:xfrm>
          <a:custGeom>
            <a:avLst/>
            <a:gdLst/>
            <a:ahLst/>
            <a:cxnLst/>
            <a:rect l="l" t="t" r="r" b="b"/>
            <a:pathLst>
              <a:path w="8208187" h="2521164">
                <a:moveTo>
                  <a:pt x="0" y="0"/>
                </a:moveTo>
                <a:lnTo>
                  <a:pt x="8208187" y="0"/>
                </a:lnTo>
                <a:lnTo>
                  <a:pt x="8208187" y="2521164"/>
                </a:lnTo>
                <a:lnTo>
                  <a:pt x="0" y="25211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434" b="-7021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0"/>
            <a:ext cx="1405046" cy="936698"/>
          </a:xfrm>
          <a:custGeom>
            <a:avLst/>
            <a:gdLst/>
            <a:ahLst/>
            <a:cxnLst/>
            <a:rect l="l" t="t" r="r" b="b"/>
            <a:pathLst>
              <a:path w="1405046" h="936698">
                <a:moveTo>
                  <a:pt x="0" y="0"/>
                </a:moveTo>
                <a:lnTo>
                  <a:pt x="1405046" y="0"/>
                </a:lnTo>
                <a:lnTo>
                  <a:pt x="1405046" y="936698"/>
                </a:lnTo>
                <a:lnTo>
                  <a:pt x="0" y="9366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172070" y="1116232"/>
            <a:ext cx="4138490" cy="2758993"/>
          </a:xfrm>
          <a:custGeom>
            <a:avLst/>
            <a:gdLst/>
            <a:ahLst/>
            <a:cxnLst/>
            <a:rect l="l" t="t" r="r" b="b"/>
            <a:pathLst>
              <a:path w="4138490" h="2758993">
                <a:moveTo>
                  <a:pt x="0" y="0"/>
                </a:moveTo>
                <a:lnTo>
                  <a:pt x="4138490" y="0"/>
                </a:lnTo>
                <a:lnTo>
                  <a:pt x="4138490" y="2758994"/>
                </a:lnTo>
                <a:lnTo>
                  <a:pt x="0" y="27589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1407397" y="6418745"/>
            <a:ext cx="86430" cy="217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 i="1">
                <a:solidFill>
                  <a:srgbClr val="FFFF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855779" y="-635"/>
            <a:ext cx="4179332" cy="629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Technical Approach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8739" y="994886"/>
            <a:ext cx="12862758" cy="2961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3"/>
              </a:lnSpc>
              <a:spcBef>
                <a:spcPct val="0"/>
              </a:spcBef>
            </a:pPr>
            <a:r>
              <a:rPr lang="en-US" sz="1937" b="1" u="sng">
                <a:solidFill>
                  <a:srgbClr val="000000"/>
                </a:solidFill>
                <a:latin typeface="PT Serif Bold"/>
                <a:ea typeface="PT Serif Bold"/>
                <a:cs typeface="PT Serif Bold"/>
                <a:sym typeface="PT Serif Bold"/>
              </a:rPr>
              <a:t>TECHNOLOGY STACK</a:t>
            </a:r>
          </a:p>
          <a:p>
            <a:pPr algn="l">
              <a:lnSpc>
                <a:spcPts val="1796"/>
              </a:lnSpc>
              <a:spcBef>
                <a:spcPct val="0"/>
              </a:spcBef>
            </a:pPr>
            <a:endParaRPr lang="en-US" sz="1937" b="1" u="sng">
              <a:solidFill>
                <a:srgbClr val="000000"/>
              </a:solidFill>
              <a:latin typeface="PT Serif Bold"/>
              <a:ea typeface="PT Serif Bold"/>
              <a:cs typeface="PT Serif Bold"/>
              <a:sym typeface="PT Serif Bold"/>
            </a:endParaRPr>
          </a:p>
          <a:p>
            <a:pPr algn="l">
              <a:lnSpc>
                <a:spcPts val="1796"/>
              </a:lnSpc>
              <a:spcBef>
                <a:spcPct val="0"/>
              </a:spcBef>
            </a:pPr>
            <a:r>
              <a:rPr lang="en-US" sz="1283" b="1" i="1" u="sng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Frontend </a:t>
            </a:r>
            <a:r>
              <a:rPr lang="en-US" sz="1283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: HTML5 • CSS3 • Vanilla JavaScript • Vercel</a:t>
            </a:r>
          </a:p>
          <a:p>
            <a:pPr algn="l">
              <a:lnSpc>
                <a:spcPts val="716"/>
              </a:lnSpc>
              <a:spcBef>
                <a:spcPct val="0"/>
              </a:spcBef>
            </a:pPr>
            <a:endParaRPr lang="en-US" sz="1283" i="1">
              <a:solidFill>
                <a:srgbClr val="000000"/>
              </a:solidFill>
              <a:latin typeface="Arial Italics"/>
              <a:ea typeface="Arial Italics"/>
              <a:cs typeface="Arial Italics"/>
              <a:sym typeface="Arial Italics"/>
            </a:endParaRPr>
          </a:p>
          <a:p>
            <a:pPr algn="l">
              <a:lnSpc>
                <a:spcPts val="1796"/>
              </a:lnSpc>
              <a:spcBef>
                <a:spcPct val="0"/>
              </a:spcBef>
            </a:pPr>
            <a:r>
              <a:rPr lang="en-US" sz="1283" b="1" i="1" u="sng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Backend </a:t>
            </a:r>
            <a:r>
              <a:rPr lang="en-US" sz="1283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: Node.js • Express.js</a:t>
            </a:r>
          </a:p>
          <a:p>
            <a:pPr algn="l">
              <a:lnSpc>
                <a:spcPts val="715"/>
              </a:lnSpc>
              <a:spcBef>
                <a:spcPct val="0"/>
              </a:spcBef>
            </a:pPr>
            <a:endParaRPr lang="en-US" sz="1283" i="1">
              <a:solidFill>
                <a:srgbClr val="000000"/>
              </a:solidFill>
              <a:latin typeface="Arial Italics"/>
              <a:ea typeface="Arial Italics"/>
              <a:cs typeface="Arial Italics"/>
              <a:sym typeface="Arial Italics"/>
            </a:endParaRPr>
          </a:p>
          <a:p>
            <a:pPr algn="l">
              <a:lnSpc>
                <a:spcPts val="1796"/>
              </a:lnSpc>
              <a:spcBef>
                <a:spcPct val="0"/>
              </a:spcBef>
            </a:pPr>
            <a:r>
              <a:rPr lang="en-US" sz="1283" b="1" i="1" u="sng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Authentication &amp; Security </a:t>
            </a:r>
            <a:r>
              <a:rPr lang="en-US" sz="1283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: JWT • bcryptjs • Helmet • CORS • express-rate-limit</a:t>
            </a:r>
          </a:p>
          <a:p>
            <a:pPr algn="l">
              <a:lnSpc>
                <a:spcPts val="715"/>
              </a:lnSpc>
              <a:spcBef>
                <a:spcPct val="0"/>
              </a:spcBef>
            </a:pPr>
            <a:endParaRPr lang="en-US" sz="1283" i="1">
              <a:solidFill>
                <a:srgbClr val="000000"/>
              </a:solidFill>
              <a:latin typeface="Arial Italics"/>
              <a:ea typeface="Arial Italics"/>
              <a:cs typeface="Arial Italics"/>
              <a:sym typeface="Arial Italics"/>
            </a:endParaRPr>
          </a:p>
          <a:p>
            <a:pPr algn="l">
              <a:lnSpc>
                <a:spcPts val="1796"/>
              </a:lnSpc>
              <a:spcBef>
                <a:spcPct val="0"/>
              </a:spcBef>
            </a:pPr>
            <a:r>
              <a:rPr lang="en-US" sz="1283" b="1" i="1" u="sng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File Handling</a:t>
            </a:r>
            <a:r>
              <a:rPr lang="en-US" sz="1283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 : Multer</a:t>
            </a:r>
          </a:p>
          <a:p>
            <a:pPr algn="l">
              <a:lnSpc>
                <a:spcPts val="715"/>
              </a:lnSpc>
              <a:spcBef>
                <a:spcPct val="0"/>
              </a:spcBef>
            </a:pPr>
            <a:endParaRPr lang="en-US" sz="1283" i="1">
              <a:solidFill>
                <a:srgbClr val="000000"/>
              </a:solidFill>
              <a:latin typeface="Arial Italics"/>
              <a:ea typeface="Arial Italics"/>
              <a:cs typeface="Arial Italics"/>
              <a:sym typeface="Arial Italics"/>
            </a:endParaRPr>
          </a:p>
          <a:p>
            <a:pPr algn="l">
              <a:lnSpc>
                <a:spcPts val="1796"/>
              </a:lnSpc>
              <a:spcBef>
                <a:spcPct val="0"/>
              </a:spcBef>
            </a:pPr>
            <a:r>
              <a:rPr lang="en-US" sz="1283" b="1" i="1" u="sng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Compliance Engine</a:t>
            </a:r>
            <a:r>
              <a:rPr lang="en-US" sz="1283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 : Custom Node.js Rule Engine</a:t>
            </a:r>
          </a:p>
          <a:p>
            <a:pPr algn="l">
              <a:lnSpc>
                <a:spcPts val="715"/>
              </a:lnSpc>
              <a:spcBef>
                <a:spcPct val="0"/>
              </a:spcBef>
            </a:pPr>
            <a:endParaRPr lang="en-US" sz="1283" i="1">
              <a:solidFill>
                <a:srgbClr val="000000"/>
              </a:solidFill>
              <a:latin typeface="Arial Italics"/>
              <a:ea typeface="Arial Italics"/>
              <a:cs typeface="Arial Italics"/>
              <a:sym typeface="Arial Italics"/>
            </a:endParaRPr>
          </a:p>
          <a:p>
            <a:pPr algn="l">
              <a:lnSpc>
                <a:spcPts val="1796"/>
              </a:lnSpc>
              <a:spcBef>
                <a:spcPct val="0"/>
              </a:spcBef>
            </a:pPr>
            <a:r>
              <a:rPr lang="en-US" sz="1283" b="1" i="1" u="sng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Database</a:t>
            </a:r>
            <a:r>
              <a:rPr lang="en-US" sz="1283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 : MongoDB • Mongoose (integration-ready)</a:t>
            </a:r>
          </a:p>
          <a:p>
            <a:pPr algn="l">
              <a:lnSpc>
                <a:spcPts val="715"/>
              </a:lnSpc>
              <a:spcBef>
                <a:spcPct val="0"/>
              </a:spcBef>
            </a:pPr>
            <a:endParaRPr lang="en-US" sz="1283" i="1">
              <a:solidFill>
                <a:srgbClr val="000000"/>
              </a:solidFill>
              <a:latin typeface="Arial Italics"/>
              <a:ea typeface="Arial Italics"/>
              <a:cs typeface="Arial Italics"/>
              <a:sym typeface="Arial Italics"/>
            </a:endParaRPr>
          </a:p>
          <a:p>
            <a:pPr algn="l">
              <a:lnSpc>
                <a:spcPts val="1796"/>
              </a:lnSpc>
              <a:spcBef>
                <a:spcPct val="0"/>
              </a:spcBef>
            </a:pPr>
            <a:r>
              <a:rPr lang="en-US" sz="1283" b="1" i="1" u="sng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OCR / Text Extraction</a:t>
            </a:r>
            <a:r>
              <a:rPr lang="en-US" sz="1283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 : OCR Service Interface (engine integration pending)</a:t>
            </a:r>
          </a:p>
          <a:p>
            <a:pPr algn="l">
              <a:lnSpc>
                <a:spcPts val="607"/>
              </a:lnSpc>
              <a:spcBef>
                <a:spcPct val="0"/>
              </a:spcBef>
            </a:pPr>
            <a:endParaRPr lang="en-US" sz="1283" i="1">
              <a:solidFill>
                <a:srgbClr val="000000"/>
              </a:solidFill>
              <a:latin typeface="Arial Italics"/>
              <a:ea typeface="Arial Italics"/>
              <a:cs typeface="Arial Italics"/>
              <a:sym typeface="Arial Italics"/>
            </a:endParaRPr>
          </a:p>
          <a:p>
            <a:pPr algn="l">
              <a:lnSpc>
                <a:spcPts val="1796"/>
              </a:lnSpc>
              <a:spcBef>
                <a:spcPct val="0"/>
              </a:spcBef>
            </a:pPr>
            <a:r>
              <a:rPr lang="en-US" sz="1283" b="1" i="1" u="sng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Deployment</a:t>
            </a:r>
            <a:r>
              <a:rPr lang="en-US" sz="1283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 : Vercel • Backend Platform (TBD)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66208" y="5215087"/>
            <a:ext cx="2224591" cy="4666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59"/>
              </a:lnSpc>
              <a:spcBef>
                <a:spcPct val="0"/>
              </a:spcBef>
            </a:pPr>
            <a:r>
              <a:rPr lang="en-US" sz="2756" i="1" u="sng" dirty="0">
                <a:solidFill>
                  <a:srgbClr val="000000"/>
                </a:solidFill>
                <a:latin typeface="PT Serif Italics"/>
                <a:ea typeface="PT Serif Italics"/>
                <a:cs typeface="PT Serif Italics"/>
                <a:sym typeface="PT Serif Italics"/>
              </a:rPr>
              <a:t>WORKFLOW: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841992" y="57912"/>
            <a:ext cx="2209800" cy="1121664"/>
            <a:chOff x="0" y="0"/>
            <a:chExt cx="2946400" cy="149555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946400" cy="1495552"/>
            </a:xfrm>
            <a:custGeom>
              <a:avLst/>
              <a:gdLst/>
              <a:ahLst/>
              <a:cxnLst/>
              <a:rect l="l" t="t" r="r" b="b"/>
              <a:pathLst>
                <a:path w="2946400" h="1495552">
                  <a:moveTo>
                    <a:pt x="0" y="0"/>
                  </a:moveTo>
                  <a:lnTo>
                    <a:pt x="2946400" y="0"/>
                  </a:lnTo>
                  <a:lnTo>
                    <a:pt x="2946400" y="1495552"/>
                  </a:lnTo>
                  <a:lnTo>
                    <a:pt x="0" y="1495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00" r="-20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841992" y="57912"/>
            <a:ext cx="2209800" cy="1121664"/>
            <a:chOff x="0" y="0"/>
            <a:chExt cx="2946400" cy="14955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46400" cy="1495552"/>
            </a:xfrm>
            <a:custGeom>
              <a:avLst/>
              <a:gdLst/>
              <a:ahLst/>
              <a:cxnLst/>
              <a:rect l="l" t="t" r="r" b="b"/>
              <a:pathLst>
                <a:path w="2946400" h="1495552">
                  <a:moveTo>
                    <a:pt x="0" y="0"/>
                  </a:moveTo>
                  <a:lnTo>
                    <a:pt x="2946400" y="0"/>
                  </a:lnTo>
                  <a:lnTo>
                    <a:pt x="2946400" y="1495552"/>
                  </a:lnTo>
                  <a:lnTo>
                    <a:pt x="0" y="1495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5125" r="-15125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6377235" y="1199597"/>
            <a:ext cx="6076281" cy="230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3"/>
              </a:lnSpc>
              <a:spcBef>
                <a:spcPct val="0"/>
              </a:spcBef>
            </a:pPr>
            <a:r>
              <a:rPr lang="en-US" sz="1745" b="1" i="1" u="sng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Challenges:</a:t>
            </a:r>
          </a:p>
          <a:p>
            <a:pPr algn="l">
              <a:lnSpc>
                <a:spcPts val="1221"/>
              </a:lnSpc>
              <a:spcBef>
                <a:spcPct val="0"/>
              </a:spcBef>
            </a:pPr>
            <a:endParaRPr lang="en-US" sz="1745" b="1" i="1" u="sng">
              <a:solidFill>
                <a:srgbClr val="000000"/>
              </a:solidFill>
              <a:latin typeface="Arial Bold Italics"/>
              <a:ea typeface="Arial Bold Italics"/>
              <a:cs typeface="Arial Bold Italics"/>
              <a:sym typeface="Arial Bold Italics"/>
            </a:endParaRPr>
          </a:p>
          <a:p>
            <a:pPr marL="251242" lvl="1" indent="-125621" algn="l">
              <a:lnSpc>
                <a:spcPts val="1629"/>
              </a:lnSpc>
              <a:buFont typeface="Arial"/>
              <a:buChar char="•"/>
            </a:pPr>
            <a:r>
              <a:rPr lang="en-US" sz="1163" b="1" i="1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OCR Accuracy:</a:t>
            </a:r>
          </a:p>
          <a:p>
            <a:pPr algn="l">
              <a:lnSpc>
                <a:spcPts val="1629"/>
              </a:lnSpc>
              <a:spcBef>
                <a:spcPct val="0"/>
              </a:spcBef>
            </a:pPr>
            <a:r>
              <a:rPr lang="en-US" sz="1163" b="1" i="1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Poor image quality, small text, curved packaging, or low contrast may affect text extraction accuracy.</a:t>
            </a:r>
          </a:p>
          <a:p>
            <a:pPr marL="251242" lvl="1" indent="-125621" algn="l">
              <a:lnSpc>
                <a:spcPts val="1629"/>
              </a:lnSpc>
              <a:buFont typeface="Arial"/>
              <a:buChar char="•"/>
            </a:pPr>
            <a:r>
              <a:rPr lang="en-US" sz="1163" b="1" i="1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Regulatory Changes:</a:t>
            </a:r>
          </a:p>
          <a:p>
            <a:pPr algn="l">
              <a:lnSpc>
                <a:spcPts val="1629"/>
              </a:lnSpc>
              <a:spcBef>
                <a:spcPct val="0"/>
              </a:spcBef>
            </a:pPr>
            <a:r>
              <a:rPr lang="en-US" sz="1163" b="1" i="1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Changes in Legal Metrology requirements require the rule sets to be regularly updated.</a:t>
            </a:r>
          </a:p>
          <a:p>
            <a:pPr marL="251242" lvl="1" indent="-125621" algn="l">
              <a:lnSpc>
                <a:spcPts val="1629"/>
              </a:lnSpc>
              <a:buFont typeface="Arial"/>
              <a:buChar char="•"/>
            </a:pPr>
            <a:r>
              <a:rPr lang="en-US" sz="1163" b="1" i="1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False Results:</a:t>
            </a:r>
          </a:p>
          <a:p>
            <a:pPr algn="l">
              <a:lnSpc>
                <a:spcPts val="1629"/>
              </a:lnSpc>
              <a:spcBef>
                <a:spcPct val="0"/>
              </a:spcBef>
            </a:pPr>
            <a:r>
              <a:rPr lang="en-US" sz="1163" b="1" i="1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Incorrect field detection may lead to false positives or negatives, so the system is designed as a self-checking aid rather than official legal certification.</a:t>
            </a:r>
          </a:p>
        </p:txBody>
      </p:sp>
      <p:sp>
        <p:nvSpPr>
          <p:cNvPr id="5" name="Freeform 5"/>
          <p:cNvSpPr/>
          <p:nvPr/>
        </p:nvSpPr>
        <p:spPr>
          <a:xfrm>
            <a:off x="0" y="0"/>
            <a:ext cx="1405046" cy="936698"/>
          </a:xfrm>
          <a:custGeom>
            <a:avLst/>
            <a:gdLst/>
            <a:ahLst/>
            <a:cxnLst/>
            <a:rect l="l" t="t" r="r" b="b"/>
            <a:pathLst>
              <a:path w="1405046" h="936698">
                <a:moveTo>
                  <a:pt x="0" y="0"/>
                </a:moveTo>
                <a:lnTo>
                  <a:pt x="1405046" y="0"/>
                </a:lnTo>
                <a:lnTo>
                  <a:pt x="1405046" y="936698"/>
                </a:lnTo>
                <a:lnTo>
                  <a:pt x="0" y="9366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9841992" y="57912"/>
            <a:ext cx="2209800" cy="1121664"/>
            <a:chOff x="0" y="0"/>
            <a:chExt cx="2946400" cy="149555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46400" cy="1495552"/>
            </a:xfrm>
            <a:custGeom>
              <a:avLst/>
              <a:gdLst/>
              <a:ahLst/>
              <a:cxnLst/>
              <a:rect l="l" t="t" r="r" b="b"/>
              <a:pathLst>
                <a:path w="2946400" h="1495552">
                  <a:moveTo>
                    <a:pt x="0" y="0"/>
                  </a:moveTo>
                  <a:lnTo>
                    <a:pt x="2946400" y="0"/>
                  </a:lnTo>
                  <a:lnTo>
                    <a:pt x="2946400" y="1495552"/>
                  </a:lnTo>
                  <a:lnTo>
                    <a:pt x="0" y="1495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00" r="-200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2965050" y="72451"/>
            <a:ext cx="5981938" cy="613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3602" dirty="0">
                <a:solidFill>
                  <a:srgbClr val="000000"/>
                </a:solidFill>
                <a:latin typeface="PT Serif Italics"/>
                <a:ea typeface="PT Serif Italics"/>
                <a:cs typeface="PT Serif Italics"/>
                <a:sym typeface="PT Serif Italics"/>
              </a:rPr>
              <a:t>FEASIBILITY AND VIABILITY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407397" y="6418745"/>
            <a:ext cx="86430" cy="217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 i="1">
                <a:solidFill>
                  <a:srgbClr val="FFFF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8581" y="1199597"/>
            <a:ext cx="5877438" cy="2317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1"/>
              </a:lnSpc>
              <a:spcBef>
                <a:spcPct val="0"/>
              </a:spcBef>
            </a:pPr>
            <a:r>
              <a:rPr lang="en-US" sz="1758" b="1" i="1" u="sng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Feasibility:</a:t>
            </a:r>
          </a:p>
          <a:p>
            <a:pPr algn="l">
              <a:lnSpc>
                <a:spcPts val="1230"/>
              </a:lnSpc>
              <a:spcBef>
                <a:spcPct val="0"/>
              </a:spcBef>
            </a:pPr>
            <a:endParaRPr lang="en-US" sz="1758" b="1" i="1" u="sng">
              <a:solidFill>
                <a:srgbClr val="000000"/>
              </a:solidFill>
              <a:latin typeface="Arial Bold Italics"/>
              <a:ea typeface="Arial Bold Italics"/>
              <a:cs typeface="Arial Bold Italics"/>
              <a:sym typeface="Arial Bold Italics"/>
            </a:endParaRPr>
          </a:p>
          <a:p>
            <a:pPr marL="253053" lvl="1" indent="-126527" algn="l">
              <a:lnSpc>
                <a:spcPts val="1640"/>
              </a:lnSpc>
              <a:buFont typeface="Arial"/>
              <a:buChar char="•"/>
            </a:pPr>
            <a:r>
              <a:rPr lang="en-US" sz="1172" b="1" i="1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Technical:</a:t>
            </a:r>
          </a:p>
          <a:p>
            <a:pPr algn="l">
              <a:lnSpc>
                <a:spcPts val="1640"/>
              </a:lnSpc>
            </a:pPr>
            <a:r>
              <a:rPr lang="en-US" sz="1172" b="1" i="1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Feasible using established technologies such as OCR, Node.js, Express.js, and rule-based processing to automate label verification.</a:t>
            </a:r>
          </a:p>
          <a:p>
            <a:pPr marL="253053" lvl="1" indent="-126527" algn="l">
              <a:lnSpc>
                <a:spcPts val="1640"/>
              </a:lnSpc>
              <a:buFont typeface="Arial"/>
              <a:buChar char="•"/>
            </a:pPr>
            <a:r>
              <a:rPr lang="en-US" sz="1172" b="1" i="1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Economic:</a:t>
            </a:r>
          </a:p>
          <a:p>
            <a:pPr algn="l">
              <a:lnSpc>
                <a:spcPts val="1640"/>
              </a:lnSpc>
            </a:pPr>
            <a:r>
              <a:rPr lang="en-US" sz="1172" b="1" i="1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Cost-effective through open-source technologies and free-tier development platforms, reducing initial infrastructure and licensing expenses.</a:t>
            </a:r>
          </a:p>
          <a:p>
            <a:pPr marL="253053" lvl="1" indent="-126527" algn="l">
              <a:lnSpc>
                <a:spcPts val="1640"/>
              </a:lnSpc>
              <a:buFont typeface="Arial"/>
              <a:buChar char="•"/>
            </a:pPr>
            <a:r>
              <a:rPr lang="en-US" sz="1172" b="1" i="1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Operational:</a:t>
            </a:r>
          </a:p>
          <a:p>
            <a:pPr algn="l">
              <a:lnSpc>
                <a:spcPts val="1640"/>
              </a:lnSpc>
            </a:pPr>
            <a:r>
              <a:rPr lang="en-US" sz="1172" b="1" i="1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Simple workflow requiring only a product-label image and category selection, making the system easy for manufacturers, packers, and sellers to use.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8581" y="4085120"/>
            <a:ext cx="6079648" cy="2291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2"/>
              </a:lnSpc>
              <a:spcBef>
                <a:spcPct val="0"/>
              </a:spcBef>
            </a:pPr>
            <a:r>
              <a:rPr lang="en-US" sz="1737" b="1" i="1" u="sng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Viability:</a:t>
            </a:r>
          </a:p>
          <a:p>
            <a:pPr algn="l">
              <a:lnSpc>
                <a:spcPts val="1216"/>
              </a:lnSpc>
              <a:spcBef>
                <a:spcPct val="0"/>
              </a:spcBef>
            </a:pPr>
            <a:endParaRPr lang="en-US" sz="1737" b="1" i="1" u="sng">
              <a:solidFill>
                <a:srgbClr val="000000"/>
              </a:solidFill>
              <a:latin typeface="Arial Bold Italics"/>
              <a:ea typeface="Arial Bold Italics"/>
              <a:cs typeface="Arial Bold Italics"/>
              <a:sym typeface="Arial Bold Italics"/>
            </a:endParaRPr>
          </a:p>
          <a:p>
            <a:pPr marL="250072" lvl="1" indent="-125036" algn="l">
              <a:lnSpc>
                <a:spcPts val="1621"/>
              </a:lnSpc>
              <a:buFont typeface="Arial"/>
              <a:buChar char="•"/>
            </a:pPr>
            <a:r>
              <a:rPr lang="en-US" sz="1158" b="1" i="1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Market Opportunities:</a:t>
            </a:r>
          </a:p>
          <a:p>
            <a:pPr algn="l">
              <a:lnSpc>
                <a:spcPts val="1621"/>
              </a:lnSpc>
              <a:spcBef>
                <a:spcPct val="0"/>
              </a:spcBef>
            </a:pPr>
            <a:r>
              <a:rPr lang="en-US" sz="1158" b="1" i="1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Large potential user base among manufacturers, packers, sellers, and compliance teams dealing with pre-packaged commodities in India.</a:t>
            </a:r>
          </a:p>
          <a:p>
            <a:pPr marL="250072" lvl="1" indent="-125036" algn="l">
              <a:lnSpc>
                <a:spcPts val="1621"/>
              </a:lnSpc>
              <a:buFont typeface="Arial"/>
              <a:buChar char="•"/>
            </a:pPr>
            <a:r>
              <a:rPr lang="en-US" sz="1158" b="1" i="1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Scalability:</a:t>
            </a:r>
          </a:p>
          <a:p>
            <a:pPr algn="l">
              <a:lnSpc>
                <a:spcPts val="1621"/>
              </a:lnSpc>
              <a:spcBef>
                <a:spcPct val="0"/>
              </a:spcBef>
            </a:pPr>
            <a:r>
              <a:rPr lang="en-US" sz="1158" b="1" i="1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The category-based rule structure allows new product categories and declaration requirements to be added without redesigning the core system.</a:t>
            </a:r>
          </a:p>
          <a:p>
            <a:pPr marL="250072" lvl="1" indent="-125036" algn="l">
              <a:lnSpc>
                <a:spcPts val="1621"/>
              </a:lnSpc>
              <a:buFont typeface="Arial"/>
              <a:buChar char="•"/>
            </a:pPr>
            <a:r>
              <a:rPr lang="en-US" sz="1158" b="1" i="1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Sustainability &amp; Future-Proofing:</a:t>
            </a:r>
          </a:p>
          <a:p>
            <a:pPr algn="l">
              <a:lnSpc>
                <a:spcPts val="1621"/>
              </a:lnSpc>
              <a:spcBef>
                <a:spcPct val="0"/>
              </a:spcBef>
            </a:pPr>
            <a:r>
              <a:rPr lang="en-US" sz="1158" b="1" i="1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The modular architecture allows OCR, database, and compliance rules to be independently upgraded as technology and regulations evolve.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493686" y="3941341"/>
            <a:ext cx="5558106" cy="2695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b="1" i="1" u="sng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Solutions:</a:t>
            </a:r>
          </a:p>
          <a:p>
            <a:pPr algn="l">
              <a:lnSpc>
                <a:spcPts val="963"/>
              </a:lnSpc>
              <a:spcBef>
                <a:spcPct val="0"/>
              </a:spcBef>
            </a:pPr>
            <a:endParaRPr lang="en-US" sz="1799" b="1" i="1" u="sng">
              <a:solidFill>
                <a:srgbClr val="000000"/>
              </a:solidFill>
              <a:latin typeface="Arial Bold Italics"/>
              <a:ea typeface="Arial Bold Italics"/>
              <a:cs typeface="Arial Bold Italics"/>
              <a:sym typeface="Arial Bold Italics"/>
            </a:endParaRPr>
          </a:p>
          <a:p>
            <a:pPr marL="244547" lvl="1" indent="-122273" algn="l">
              <a:lnSpc>
                <a:spcPts val="1585"/>
              </a:lnSpc>
              <a:buFont typeface="Arial"/>
              <a:buChar char="•"/>
            </a:pPr>
            <a:r>
              <a:rPr lang="en-US" sz="1132" b="1" i="1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Clear Image Guidance:</a:t>
            </a:r>
          </a:p>
          <a:p>
            <a:pPr algn="l">
              <a:lnSpc>
                <a:spcPts val="1445"/>
              </a:lnSpc>
              <a:spcBef>
                <a:spcPct val="0"/>
              </a:spcBef>
            </a:pPr>
            <a:r>
              <a:rPr lang="en-US" sz="1032" b="1" i="1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Guide users to upload well-lit, straight and readable label images.</a:t>
            </a:r>
          </a:p>
          <a:p>
            <a:pPr marL="244547" lvl="1" indent="-122273" algn="l">
              <a:lnSpc>
                <a:spcPts val="1585"/>
              </a:lnSpc>
              <a:buFont typeface="Arial"/>
              <a:buChar char="•"/>
            </a:pPr>
            <a:r>
              <a:rPr lang="en-US" sz="1132" b="1" i="1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Modular Rule Engine:</a:t>
            </a:r>
          </a:p>
          <a:p>
            <a:pPr algn="l">
              <a:lnSpc>
                <a:spcPts val="1445"/>
              </a:lnSpc>
              <a:spcBef>
                <a:spcPct val="0"/>
              </a:spcBef>
            </a:pPr>
            <a:r>
              <a:rPr lang="en-US" sz="1032" b="1" i="1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Maintain category-specific requirements separately so regulatory updates can be implemented easily.</a:t>
            </a:r>
          </a:p>
          <a:p>
            <a:pPr marL="244547" lvl="1" indent="-122273" algn="l">
              <a:lnSpc>
                <a:spcPts val="1585"/>
              </a:lnSpc>
              <a:buFont typeface="Arial"/>
              <a:buChar char="•"/>
            </a:pPr>
            <a:r>
              <a:rPr lang="en-US" sz="1132" b="1" i="1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Expandable Architecture:</a:t>
            </a:r>
          </a:p>
          <a:p>
            <a:pPr algn="l">
              <a:lnSpc>
                <a:spcPts val="1445"/>
              </a:lnSpc>
              <a:spcBef>
                <a:spcPct val="0"/>
              </a:spcBef>
            </a:pPr>
            <a:r>
              <a:rPr lang="en-US" sz="1032" b="1" i="1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Support additional categories, multilingual OCR, bulk verification and enterprise/API integration in future versions.</a:t>
            </a:r>
          </a:p>
          <a:p>
            <a:pPr marL="244547" lvl="1" indent="-122273" algn="l">
              <a:lnSpc>
                <a:spcPts val="1585"/>
              </a:lnSpc>
              <a:buFont typeface="Arial"/>
              <a:buChar char="•"/>
            </a:pPr>
            <a:r>
              <a:rPr lang="en-US" sz="1132" b="1" i="1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User-Friendly Design:</a:t>
            </a:r>
          </a:p>
          <a:p>
            <a:pPr algn="l">
              <a:lnSpc>
                <a:spcPts val="1445"/>
              </a:lnSpc>
              <a:spcBef>
                <a:spcPct val="0"/>
              </a:spcBef>
            </a:pPr>
            <a:r>
              <a:rPr lang="en-US" sz="1032" b="1" i="1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Provide a clear Found vs. Missing result and structured verification report for quick decision-making.</a:t>
            </a:r>
          </a:p>
          <a:p>
            <a:pPr algn="l">
              <a:lnSpc>
                <a:spcPts val="1445"/>
              </a:lnSpc>
              <a:spcBef>
                <a:spcPct val="0"/>
              </a:spcBef>
            </a:pPr>
            <a:endParaRPr lang="en-US" sz="1032" b="1" i="1">
              <a:solidFill>
                <a:srgbClr val="000000"/>
              </a:solidFill>
              <a:latin typeface="Arial Bold Italics"/>
              <a:ea typeface="Arial Bold Italics"/>
              <a:cs typeface="Arial Bold Italics"/>
              <a:sym typeface="Arial Bold Italics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158230" y="1179576"/>
            <a:ext cx="0" cy="567842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>
            <a:off x="0" y="3829875"/>
            <a:ext cx="121920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854045" y="0"/>
            <a:ext cx="2209800" cy="1121664"/>
            <a:chOff x="0" y="0"/>
            <a:chExt cx="2946400" cy="14955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46400" cy="1495552"/>
            </a:xfrm>
            <a:custGeom>
              <a:avLst/>
              <a:gdLst/>
              <a:ahLst/>
              <a:cxnLst/>
              <a:rect l="l" t="t" r="r" b="b"/>
              <a:pathLst>
                <a:path w="2946400" h="1495552">
                  <a:moveTo>
                    <a:pt x="0" y="0"/>
                  </a:moveTo>
                  <a:lnTo>
                    <a:pt x="2946400" y="0"/>
                  </a:lnTo>
                  <a:lnTo>
                    <a:pt x="2946400" y="1495552"/>
                  </a:lnTo>
                  <a:lnTo>
                    <a:pt x="0" y="1495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5125" r="-15125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0" y="0"/>
            <a:ext cx="1405046" cy="936698"/>
          </a:xfrm>
          <a:custGeom>
            <a:avLst/>
            <a:gdLst/>
            <a:ahLst/>
            <a:cxnLst/>
            <a:rect l="l" t="t" r="r" b="b"/>
            <a:pathLst>
              <a:path w="1405046" h="936698">
                <a:moveTo>
                  <a:pt x="0" y="0"/>
                </a:moveTo>
                <a:lnTo>
                  <a:pt x="1405046" y="0"/>
                </a:lnTo>
                <a:lnTo>
                  <a:pt x="1405046" y="936698"/>
                </a:lnTo>
                <a:lnTo>
                  <a:pt x="0" y="9366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840477" y="1066583"/>
            <a:ext cx="6073134" cy="1964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9"/>
              </a:lnSpc>
              <a:spcBef>
                <a:spcPct val="0"/>
              </a:spcBef>
            </a:pPr>
            <a:r>
              <a:rPr lang="en-US" sz="1699" b="1" i="1" u="sng" dirty="0">
                <a:solidFill>
                  <a:srgbClr val="000000"/>
                </a:solidFill>
                <a:latin typeface="PT Sans Bold Italics"/>
                <a:ea typeface="PT Sans Bold Italics"/>
                <a:cs typeface="PT Sans Bold Italics"/>
                <a:sym typeface="PT Sans Bold Italics"/>
              </a:rPr>
              <a:t>Potential Impact on the Target Audience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endParaRPr lang="en-US" sz="1699" b="1" i="1" u="sng" dirty="0">
              <a:solidFill>
                <a:srgbClr val="000000"/>
              </a:solidFill>
              <a:latin typeface="PT Sans Bold Italics"/>
              <a:ea typeface="PT Sans Bold Italics"/>
              <a:cs typeface="PT Sans Bold Italics"/>
              <a:sym typeface="PT Sans Bold Italics"/>
            </a:endParaRPr>
          </a:p>
          <a:p>
            <a:pPr marL="237491" lvl="1" indent="-118745" algn="l">
              <a:lnSpc>
                <a:spcPts val="1540"/>
              </a:lnSpc>
              <a:buFont typeface="Arial"/>
              <a:buChar char="•"/>
            </a:pPr>
            <a:r>
              <a:rPr lang="en-US" sz="1100" b="1" i="1" dirty="0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Manufacturers: Identify missing declarations before printing and distribution.</a:t>
            </a:r>
          </a:p>
          <a:p>
            <a:pPr marL="237491" lvl="1" indent="-118745" algn="l">
              <a:lnSpc>
                <a:spcPts val="1540"/>
              </a:lnSpc>
              <a:buFont typeface="Arial"/>
              <a:buChar char="•"/>
            </a:pPr>
            <a:r>
              <a:rPr lang="en-US" sz="1100" b="1" i="1" dirty="0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Packers: Follow a clear, category-specific checklist without manually searching through rules.</a:t>
            </a:r>
          </a:p>
          <a:p>
            <a:pPr marL="237491" lvl="1" indent="-118745" algn="l">
              <a:lnSpc>
                <a:spcPts val="1540"/>
              </a:lnSpc>
              <a:buFont typeface="Arial"/>
              <a:buChar char="•"/>
            </a:pPr>
            <a:r>
              <a:rPr lang="en-US" sz="1100" b="1" i="1" dirty="0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Sellers: Improve confidence that products contain the required label information.</a:t>
            </a:r>
          </a:p>
          <a:p>
            <a:pPr marL="237491" lvl="1" indent="-118745" algn="l">
              <a:lnSpc>
                <a:spcPts val="1540"/>
              </a:lnSpc>
              <a:buFont typeface="Arial"/>
              <a:buChar char="•"/>
            </a:pPr>
            <a:r>
              <a:rPr lang="en-US" sz="1100" b="1" i="1" dirty="0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Compliance Teams: Maintain a repeatable and auditable verification workflow.</a:t>
            </a:r>
          </a:p>
          <a:p>
            <a:pPr marL="237491" lvl="1" indent="-118745" algn="l">
              <a:lnSpc>
                <a:spcPts val="1540"/>
              </a:lnSpc>
              <a:buFont typeface="Arial"/>
              <a:buChar char="•"/>
            </a:pPr>
            <a:r>
              <a:rPr lang="en-US" sz="1100" b="1" i="1" dirty="0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Regulatory Ecosystem: Encourages better baseline compliance through easier self-checking.</a:t>
            </a:r>
          </a:p>
          <a:p>
            <a:pPr marL="237491" lvl="1" indent="-118745" algn="l">
              <a:lnSpc>
                <a:spcPts val="1540"/>
              </a:lnSpc>
              <a:buFont typeface="Arial"/>
              <a:buChar char="•"/>
            </a:pPr>
            <a:r>
              <a:rPr lang="en-US" sz="1100" b="1" i="1" dirty="0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Consumers: Benefit indirectly from more accurate and transparent product labeling.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854045" y="0"/>
            <a:ext cx="2209800" cy="1121664"/>
            <a:chOff x="0" y="0"/>
            <a:chExt cx="2946400" cy="149555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46400" cy="1495552"/>
            </a:xfrm>
            <a:custGeom>
              <a:avLst/>
              <a:gdLst/>
              <a:ahLst/>
              <a:cxnLst/>
              <a:rect l="l" t="t" r="r" b="b"/>
              <a:pathLst>
                <a:path w="2946400" h="1495552">
                  <a:moveTo>
                    <a:pt x="0" y="0"/>
                  </a:moveTo>
                  <a:lnTo>
                    <a:pt x="2946400" y="0"/>
                  </a:lnTo>
                  <a:lnTo>
                    <a:pt x="2946400" y="1495552"/>
                  </a:lnTo>
                  <a:lnTo>
                    <a:pt x="0" y="1495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00" r="-200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5386419" y="2969190"/>
            <a:ext cx="6064193" cy="3888810"/>
          </a:xfrm>
          <a:custGeom>
            <a:avLst/>
            <a:gdLst/>
            <a:ahLst/>
            <a:cxnLst/>
            <a:rect l="l" t="t" r="r" b="b"/>
            <a:pathLst>
              <a:path w="6064193" h="3888810">
                <a:moveTo>
                  <a:pt x="0" y="0"/>
                </a:moveTo>
                <a:lnTo>
                  <a:pt x="6064193" y="0"/>
                </a:lnTo>
                <a:lnTo>
                  <a:pt x="6064193" y="3888810"/>
                </a:lnTo>
                <a:lnTo>
                  <a:pt x="0" y="38888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7472" b="-7472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375407" y="72451"/>
            <a:ext cx="4930140" cy="613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3602" dirty="0">
                <a:solidFill>
                  <a:srgbClr val="000000"/>
                </a:solidFill>
                <a:latin typeface="PT Serif" panose="020A0603040505020204" pitchFamily="18" charset="0"/>
                <a:ea typeface="PT Serif Italics"/>
                <a:cs typeface="PT Serif Italics"/>
                <a:sym typeface="PT Serif Italics"/>
              </a:rPr>
              <a:t>IMPACT AND BENEFITS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407397" y="6418745"/>
            <a:ext cx="86430" cy="217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 i="1">
                <a:solidFill>
                  <a:srgbClr val="FFFF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5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31124" y="1057058"/>
            <a:ext cx="2831275" cy="3397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 i="1" u="sng" dirty="0">
                <a:solidFill>
                  <a:srgbClr val="000000"/>
                </a:solidFill>
                <a:latin typeface="PT Serif Bold Italics"/>
                <a:ea typeface="PT Serif Bold Italics"/>
                <a:cs typeface="PT Serif Bold Italics"/>
                <a:sym typeface="PT Serif Bold Italics"/>
              </a:rPr>
              <a:t>Benefits of the Solution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6790" y="1495084"/>
            <a:ext cx="5229629" cy="1078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1" i="1" u="sng" dirty="0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Social:</a:t>
            </a:r>
          </a:p>
          <a:p>
            <a:pPr algn="l">
              <a:lnSpc>
                <a:spcPts val="980"/>
              </a:lnSpc>
              <a:spcBef>
                <a:spcPct val="0"/>
              </a:spcBef>
            </a:pPr>
            <a:endParaRPr lang="en-US" sz="1000" b="1" i="1" u="sng" dirty="0">
              <a:solidFill>
                <a:srgbClr val="000000"/>
              </a:solidFill>
              <a:latin typeface="Arial Bold Italics"/>
              <a:ea typeface="Arial Bold Italics"/>
              <a:cs typeface="Arial Bold Italics"/>
              <a:sym typeface="Arial Bold Italics"/>
            </a:endParaRPr>
          </a:p>
          <a:p>
            <a:pPr marL="171450" indent="-171450" algn="l">
              <a:lnSpc>
                <a:spcPts val="168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b="1" i="1" dirty="0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Improves transparency between manufacturers and consumers.</a:t>
            </a:r>
          </a:p>
          <a:p>
            <a:pPr marL="171450" indent="-171450" algn="l">
              <a:lnSpc>
                <a:spcPts val="168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b="1" i="1" dirty="0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Promotes more accurate and consistently compliant product labels.</a:t>
            </a:r>
          </a:p>
          <a:p>
            <a:pPr marL="171450" indent="-171450" algn="l">
              <a:lnSpc>
                <a:spcPts val="168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b="1" i="1" dirty="0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Reduces dependence on manual and error-prone verification.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6790" y="2744044"/>
            <a:ext cx="1626610" cy="2929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 i="1" u="sng" dirty="0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Technological: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7450" y="3106774"/>
            <a:ext cx="5185754" cy="6345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71450" indent="-171450" algn="l">
              <a:lnSpc>
                <a:spcPts val="167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b="1" i="1" dirty="0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Automates label information extraction and compliance checking.</a:t>
            </a:r>
          </a:p>
          <a:p>
            <a:pPr marL="171450" indent="-171450" algn="l">
              <a:lnSpc>
                <a:spcPts val="167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b="1" i="1" dirty="0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Uses a rule-based engine for category-specific verification.</a:t>
            </a:r>
          </a:p>
          <a:p>
            <a:pPr marL="171450" indent="-171450" algn="l">
              <a:lnSpc>
                <a:spcPts val="167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b="1" i="1" dirty="0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Provides digital verification reports and saved verification history.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6039" y="3959291"/>
            <a:ext cx="1430697" cy="2929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 i="1" u="sng" dirty="0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Economic: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6791" y="4325274"/>
            <a:ext cx="6748939" cy="852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71450" indent="-171450" algn="l">
              <a:lnSpc>
                <a:spcPts val="167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b="1" i="1" dirty="0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Reduces manual effort involved in checking product labels.</a:t>
            </a:r>
          </a:p>
          <a:p>
            <a:pPr marL="171450" indent="-171450" algn="l">
              <a:lnSpc>
                <a:spcPts val="167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b="1" i="1" dirty="0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Helps identify missing declarations before printing or distribution, reducing correction costs.</a:t>
            </a:r>
          </a:p>
          <a:p>
            <a:pPr marL="171450" indent="-171450" algn="l">
              <a:lnSpc>
                <a:spcPts val="167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b="1" i="1" dirty="0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Enables a faster and repeatable compliance workflow.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595" y="5446197"/>
            <a:ext cx="3107097" cy="2929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 i="1" u="sng" dirty="0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Regulatory / Governance: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6791" y="5835015"/>
            <a:ext cx="6064193" cy="6345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71450" indent="-171450" algn="l">
              <a:lnSpc>
                <a:spcPts val="167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b="1" i="1" dirty="0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Helps manufacturers and sellers self-assess labels against known requirements.</a:t>
            </a:r>
          </a:p>
          <a:p>
            <a:pPr marL="171450" indent="-171450" algn="l">
              <a:lnSpc>
                <a:spcPts val="167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b="1" i="1" dirty="0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Makes category-specific declaration requirements easier to understand.</a:t>
            </a:r>
          </a:p>
          <a:p>
            <a:pPr marL="171450" indent="-171450" algn="l">
              <a:lnSpc>
                <a:spcPts val="167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b="1" i="1" dirty="0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Maintains a structured record of previous verifications.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841992" y="57912"/>
            <a:ext cx="2209800" cy="1121664"/>
            <a:chOff x="0" y="0"/>
            <a:chExt cx="2946400" cy="14955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46400" cy="1495552"/>
            </a:xfrm>
            <a:custGeom>
              <a:avLst/>
              <a:gdLst/>
              <a:ahLst/>
              <a:cxnLst/>
              <a:rect l="l" t="t" r="r" b="b"/>
              <a:pathLst>
                <a:path w="2946400" h="1495552">
                  <a:moveTo>
                    <a:pt x="0" y="0"/>
                  </a:moveTo>
                  <a:lnTo>
                    <a:pt x="2946400" y="0"/>
                  </a:lnTo>
                  <a:lnTo>
                    <a:pt x="2946400" y="1495552"/>
                  </a:lnTo>
                  <a:lnTo>
                    <a:pt x="0" y="1495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5125" r="-15125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0" y="0"/>
            <a:ext cx="1405046" cy="936698"/>
          </a:xfrm>
          <a:custGeom>
            <a:avLst/>
            <a:gdLst/>
            <a:ahLst/>
            <a:cxnLst/>
            <a:rect l="l" t="t" r="r" b="b"/>
            <a:pathLst>
              <a:path w="1405046" h="936698">
                <a:moveTo>
                  <a:pt x="0" y="0"/>
                </a:moveTo>
                <a:lnTo>
                  <a:pt x="1405046" y="0"/>
                </a:lnTo>
                <a:lnTo>
                  <a:pt x="1405046" y="936698"/>
                </a:lnTo>
                <a:lnTo>
                  <a:pt x="0" y="9366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9841992" y="57912"/>
            <a:ext cx="2209800" cy="1121664"/>
            <a:chOff x="0" y="0"/>
            <a:chExt cx="2946400" cy="149555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946400" cy="1495552"/>
            </a:xfrm>
            <a:custGeom>
              <a:avLst/>
              <a:gdLst/>
              <a:ahLst/>
              <a:cxnLst/>
              <a:rect l="l" t="t" r="r" b="b"/>
              <a:pathLst>
                <a:path w="2946400" h="1495552">
                  <a:moveTo>
                    <a:pt x="0" y="0"/>
                  </a:moveTo>
                  <a:lnTo>
                    <a:pt x="2946400" y="0"/>
                  </a:lnTo>
                  <a:lnTo>
                    <a:pt x="2946400" y="1495552"/>
                  </a:lnTo>
                  <a:lnTo>
                    <a:pt x="0" y="1495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00" r="-200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8365607" y="2481951"/>
            <a:ext cx="2581285" cy="3069087"/>
          </a:xfrm>
          <a:custGeom>
            <a:avLst/>
            <a:gdLst/>
            <a:ahLst/>
            <a:cxnLst/>
            <a:rect l="l" t="t" r="r" b="b"/>
            <a:pathLst>
              <a:path w="2581285" h="3069087">
                <a:moveTo>
                  <a:pt x="0" y="0"/>
                </a:moveTo>
                <a:lnTo>
                  <a:pt x="2581285" y="0"/>
                </a:lnTo>
                <a:lnTo>
                  <a:pt x="2581285" y="3069086"/>
                </a:lnTo>
                <a:lnTo>
                  <a:pt x="0" y="30690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6413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438400" y="186206"/>
            <a:ext cx="7020254" cy="5860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3602" i="1" dirty="0">
                <a:solidFill>
                  <a:srgbClr val="000000"/>
                </a:solidFill>
                <a:latin typeface="PT Serif" panose="020A0603040505020204" pitchFamily="18" charset="0"/>
                <a:ea typeface="PT Serif Italics"/>
                <a:cs typeface="PT Serif Italics"/>
                <a:sym typeface="PT Serif Italics"/>
              </a:rPr>
              <a:t>RESEARCH AND REFERENCES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407397" y="6418745"/>
            <a:ext cx="86430" cy="217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 i="1">
                <a:solidFill>
                  <a:srgbClr val="FFFF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8266" y="1171946"/>
            <a:ext cx="12043734" cy="1310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  <a:spcBef>
                <a:spcPct val="0"/>
              </a:spcBef>
            </a:pPr>
            <a:r>
              <a:rPr lang="en-US" sz="1399" b="1" i="1" u="sng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Legal &amp; Regulatory Research</a:t>
            </a:r>
          </a:p>
          <a:p>
            <a:pPr marL="259080" lvl="1" indent="-129540" algn="l">
              <a:lnSpc>
                <a:spcPts val="1679"/>
              </a:lnSpc>
              <a:buFont typeface="Arial"/>
              <a:buChar char="•"/>
            </a:pPr>
            <a:r>
              <a:rPr lang="en-US" sz="1200" b="1" i="1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The solution is based on the Legal Metrology (Packaged Commodities) Rules, 2011, which specify mandatory declarations for pre-packaged commodities. </a:t>
            </a:r>
          </a:p>
          <a:p>
            <a:pPr marL="259080" lvl="1" indent="-129540" algn="l">
              <a:lnSpc>
                <a:spcPts val="1679"/>
              </a:lnSpc>
              <a:buFont typeface="Arial"/>
              <a:buChar char="•"/>
            </a:pPr>
            <a:r>
              <a:rPr lang="en-US" sz="1200" b="1" i="1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Key declarations include manufacturer/packer/importer details, commodity name, net quantity, MRP, country of origin, applicable date information, and consumer-care details. </a:t>
            </a:r>
          </a:p>
          <a:p>
            <a:pPr marL="259080" lvl="1" indent="-129540" algn="l">
              <a:lnSpc>
                <a:spcPts val="1679"/>
              </a:lnSpc>
              <a:buFont typeface="Arial"/>
              <a:buChar char="•"/>
            </a:pPr>
            <a:r>
              <a:rPr lang="en-US" sz="1200" b="1" i="1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The Department of Consumer Affairs – Legal Metrology Portal provides official information and services related to packaged commodities and Rule 27 registration.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8266" y="2920101"/>
            <a:ext cx="6981143" cy="1812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8"/>
              </a:lnSpc>
              <a:spcBef>
                <a:spcPct val="0"/>
              </a:spcBef>
            </a:pPr>
            <a:r>
              <a:rPr lang="en-US" sz="1477" b="1" i="1" u="sng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Technology Research</a:t>
            </a:r>
          </a:p>
          <a:p>
            <a:pPr marL="273444" lvl="1" indent="-136722" algn="l">
              <a:lnSpc>
                <a:spcPts val="1773"/>
              </a:lnSpc>
              <a:buFont typeface="Arial"/>
              <a:buChar char="•"/>
            </a:pPr>
            <a:r>
              <a:rPr lang="en-US" sz="1266" b="1" i="1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OCR / Text Extraction: Used as the foundation for converting product-label images into machine-readable information.</a:t>
            </a:r>
          </a:p>
          <a:p>
            <a:pPr marL="273444" lvl="1" indent="-136722" algn="l">
              <a:lnSpc>
                <a:spcPts val="1773"/>
              </a:lnSpc>
              <a:buFont typeface="Arial"/>
              <a:buChar char="•"/>
            </a:pPr>
            <a:r>
              <a:rPr lang="en-US" sz="1266" b="1" i="1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Rule-Based Verification: Extracted information is compared with category-specific mandatory declarations.</a:t>
            </a:r>
          </a:p>
          <a:p>
            <a:pPr marL="273444" lvl="1" indent="-136722" algn="l">
              <a:lnSpc>
                <a:spcPts val="1773"/>
              </a:lnSpc>
              <a:buFont typeface="Arial"/>
              <a:buChar char="•"/>
            </a:pPr>
            <a:r>
              <a:rPr lang="en-US" sz="1266" b="1" i="1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Modular Architecture: OCR, database, and compliance rules are designed as independent components, allowing future upgrades without redesigning the complete system.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8266" y="5159797"/>
            <a:ext cx="13136744" cy="1476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237"/>
              </a:lnSpc>
              <a:spcBef>
                <a:spcPct val="0"/>
              </a:spcBef>
            </a:pPr>
            <a:r>
              <a:rPr lang="en-US" sz="1598" b="1" i="1" u="sng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Primary References</a:t>
            </a:r>
          </a:p>
          <a:p>
            <a:pPr marL="295795" lvl="1" indent="-147897" algn="l">
              <a:lnSpc>
                <a:spcPts val="1918"/>
              </a:lnSpc>
              <a:buFont typeface="Arial"/>
              <a:buChar char="•"/>
            </a:pPr>
            <a:r>
              <a:rPr lang="en-US" sz="1370" b="1" i="1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Legal Metrology Portal — Department of Consumer Affairs : </a:t>
            </a:r>
            <a:r>
              <a:rPr lang="en-US" sz="1370" b="1" i="1" u="sng">
                <a:solidFill>
                  <a:srgbClr val="1800AD"/>
                </a:solidFill>
                <a:latin typeface="Arial Bold Italics"/>
                <a:ea typeface="Arial Bold Italics"/>
                <a:cs typeface="Arial Bold Italics"/>
                <a:sym typeface="Arial Bold Italics"/>
                <a:hlinkClick r:id="rId6" tooltip="https://lm.doca.gov.in"/>
              </a:rPr>
              <a:t>https://lm.doca.gov.in/</a:t>
            </a:r>
          </a:p>
          <a:p>
            <a:pPr marL="295795" lvl="1" indent="-147897" algn="l">
              <a:lnSpc>
                <a:spcPts val="1918"/>
              </a:lnSpc>
              <a:buFont typeface="Arial"/>
              <a:buChar char="•"/>
            </a:pPr>
            <a:r>
              <a:rPr lang="en-US" sz="1370" b="1" i="1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Department of Consumer Affairs — Government of India: </a:t>
            </a:r>
            <a:r>
              <a:rPr lang="en-US" sz="1370" b="1" i="1" u="sng">
                <a:solidFill>
                  <a:srgbClr val="1800AD"/>
                </a:solidFill>
                <a:latin typeface="Arial Bold Italics"/>
                <a:ea typeface="Arial Bold Italics"/>
                <a:cs typeface="Arial Bold Italics"/>
                <a:sym typeface="Arial Bold Italics"/>
                <a:hlinkClick r:id="rId7" tooltip="https://consumeraffairs.gov.in"/>
              </a:rPr>
              <a:t>https://consumeraffairs.gov.in/</a:t>
            </a:r>
          </a:p>
          <a:p>
            <a:pPr marL="295795" lvl="1" indent="-147897" algn="l">
              <a:lnSpc>
                <a:spcPts val="1918"/>
              </a:lnSpc>
              <a:buFont typeface="Arial"/>
              <a:buChar char="•"/>
            </a:pPr>
            <a:r>
              <a:rPr lang="en-US" sz="1370" b="1" i="1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Legal Metrology (Packaged Commodities) Rules, 2011 Official regulatory framework used for defining mandatory label declarations. </a:t>
            </a:r>
          </a:p>
          <a:p>
            <a:pPr marL="295795" lvl="1" indent="-147897" algn="l">
              <a:lnSpc>
                <a:spcPts val="1918"/>
              </a:lnSpc>
              <a:buFont typeface="Arial"/>
              <a:buChar char="•"/>
            </a:pPr>
            <a:r>
              <a:rPr lang="en-US" sz="1370" b="1" i="1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National Portal of India National Portal of India : </a:t>
            </a:r>
            <a:r>
              <a:rPr lang="en-US" sz="1370" b="1" i="1" u="sng">
                <a:solidFill>
                  <a:srgbClr val="1800AD"/>
                </a:solidFill>
                <a:latin typeface="Arial Bold Italics"/>
                <a:ea typeface="Arial Bold Italics"/>
                <a:cs typeface="Arial Bold Italics"/>
                <a:sym typeface="Arial Bold Italics"/>
                <a:hlinkClick r:id="rId8" tooltip="https://www.india.gov.in"/>
              </a:rPr>
              <a:t>https://www.india.gov.in/</a:t>
            </a:r>
          </a:p>
          <a:p>
            <a:pPr marL="295795" lvl="1" indent="-147897" algn="l">
              <a:lnSpc>
                <a:spcPts val="1918"/>
              </a:lnSpc>
              <a:buFont typeface="Arial"/>
              <a:buChar char="•"/>
            </a:pPr>
            <a:r>
              <a:rPr lang="en-US" sz="1370" b="1" i="1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National Consumer Helpline — Government of India National Consumer Helpline : </a:t>
            </a:r>
            <a:r>
              <a:rPr lang="en-US" sz="1370" b="1" i="1" u="sng">
                <a:solidFill>
                  <a:srgbClr val="1800AD"/>
                </a:solidFill>
                <a:latin typeface="Arial Bold Italics"/>
                <a:ea typeface="Arial Bold Italics"/>
                <a:cs typeface="Arial Bold Italics"/>
                <a:sym typeface="Arial Bold Italics"/>
                <a:hlinkClick r:id="rId9" tooltip="https://consumerhelpline.gov.in/public/"/>
              </a:rPr>
              <a:t>https://consumerhelpline.gov.in/public/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1142</Words>
  <Application>Microsoft Office PowerPoint</Application>
  <PresentationFormat>Widescreen</PresentationFormat>
  <Paragraphs>135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9" baseType="lpstr">
      <vt:lpstr>PT Serif Bold Italics</vt:lpstr>
      <vt:lpstr>Work Sans Bold Italics</vt:lpstr>
      <vt:lpstr>PT Serif Italics</vt:lpstr>
      <vt:lpstr>Work Sans Italics</vt:lpstr>
      <vt:lpstr>PT Sans Bold Italics</vt:lpstr>
      <vt:lpstr>PT Serif</vt:lpstr>
      <vt:lpstr>Arial Italics</vt:lpstr>
      <vt:lpstr>PT Serif Bold</vt:lpstr>
      <vt:lpstr>Garamond</vt:lpstr>
      <vt:lpstr>Calibri</vt:lpstr>
      <vt:lpstr>Arial</vt:lpstr>
      <vt:lpstr>Arial Bold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Prefinal2 SIH 404Pass</dc:title>
  <dc:creator>Tanish Malhotra</dc:creator>
  <cp:lastModifiedBy>Tanish Malhotra</cp:lastModifiedBy>
  <cp:revision>2</cp:revision>
  <dcterms:created xsi:type="dcterms:W3CDTF">2006-08-16T00:00:00Z</dcterms:created>
  <dcterms:modified xsi:type="dcterms:W3CDTF">2026-09-10T17:39:38Z</dcterms:modified>
  <dc:identifier>DAHUmSoMgMo</dc:identifier>
</cp:coreProperties>
</file>